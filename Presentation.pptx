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71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1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28.png"/><Relationship Id="rId10" Type="http://schemas.openxmlformats.org/officeDocument/2006/relationships/image" Target="../media/image56.png"/><Relationship Id="rId4" Type="http://schemas.openxmlformats.org/officeDocument/2006/relationships/image" Target="../media/image14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1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29.png"/><Relationship Id="rId7" Type="http://schemas.openxmlformats.org/officeDocument/2006/relationships/image" Target="../media/image51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5" Type="http://schemas.openxmlformats.org/officeDocument/2006/relationships/image" Target="../media/image28.png"/><Relationship Id="rId10" Type="http://schemas.openxmlformats.org/officeDocument/2006/relationships/image" Target="../media/image67.png"/><Relationship Id="rId4" Type="http://schemas.openxmlformats.org/officeDocument/2006/relationships/image" Target="../media/image14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14.png"/><Relationship Id="rId9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29.png"/><Relationship Id="rId21" Type="http://schemas.openxmlformats.org/officeDocument/2006/relationships/image" Target="../media/image2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14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1.png"/><Relationship Id="rId3" Type="http://schemas.openxmlformats.org/officeDocument/2006/relationships/image" Target="../media/image72.png"/><Relationship Id="rId7" Type="http://schemas.openxmlformats.org/officeDocument/2006/relationships/image" Target="../media/image1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23.png"/><Relationship Id="rId5" Type="http://schemas.openxmlformats.org/officeDocument/2006/relationships/image" Target="../media/image96.png"/><Relationship Id="rId15" Type="http://schemas.openxmlformats.org/officeDocument/2006/relationships/image" Target="../media/image28.png"/><Relationship Id="rId10" Type="http://schemas.openxmlformats.org/officeDocument/2006/relationships/image" Target="../media/image100.png"/><Relationship Id="rId4" Type="http://schemas.openxmlformats.org/officeDocument/2006/relationships/image" Target="../media/image14.png"/><Relationship Id="rId9" Type="http://schemas.openxmlformats.org/officeDocument/2006/relationships/image" Target="../media/image99.png"/><Relationship Id="rId14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29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84.png"/><Relationship Id="rId10" Type="http://schemas.openxmlformats.org/officeDocument/2006/relationships/image" Target="../media/image108.png"/><Relationship Id="rId4" Type="http://schemas.openxmlformats.org/officeDocument/2006/relationships/image" Target="../media/image14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99.png"/><Relationship Id="rId18" Type="http://schemas.openxmlformats.org/officeDocument/2006/relationships/image" Target="../media/image28.png"/><Relationship Id="rId3" Type="http://schemas.openxmlformats.org/officeDocument/2006/relationships/image" Target="../media/image113.png"/><Relationship Id="rId7" Type="http://schemas.openxmlformats.org/officeDocument/2006/relationships/image" Target="../media/image17.png"/><Relationship Id="rId12" Type="http://schemas.openxmlformats.org/officeDocument/2006/relationships/image" Target="../media/image119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5" Type="http://schemas.openxmlformats.org/officeDocument/2006/relationships/image" Target="../media/image25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117.png"/><Relationship Id="rId1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246" y="758021"/>
            <a:ext cx="1360509" cy="136050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154" y="2144401"/>
            <a:ext cx="2484193" cy="1445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4" y="4454668"/>
            <a:ext cx="2305042" cy="63471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189" y="466206"/>
            <a:ext cx="1683372" cy="28966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0941" y="3517378"/>
            <a:ext cx="1617618" cy="6042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142875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0" y="2857500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7500" y="476250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1905000"/>
            <a:ext cx="114300" cy="114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0" y="381000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333375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0" y="238125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8813" y="1924050"/>
            <a:ext cx="714375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76706" y="6286500"/>
            <a:ext cx="1905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0" y="2609850"/>
            <a:ext cx="12192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 and Implementation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529605" y="3676650"/>
            <a:ext cx="111326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Using Cisco Packet Tracer for Secure and Scalable Network Infrastructure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4724549" y="4591050"/>
            <a:ext cx="32914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0343406" y="6248400"/>
            <a:ext cx="17611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Cisco Packet Tracer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009900"/>
            <a:ext cx="5410200" cy="876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861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8" y="31432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009900"/>
            <a:ext cx="541020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30861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9363" y="314325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52900"/>
            <a:ext cx="541020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2291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42862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152900"/>
            <a:ext cx="5410200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42291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3650" y="42862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295900"/>
            <a:ext cx="5410200" cy="876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53721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54292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295900"/>
            <a:ext cx="541020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53721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3650" y="542925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515100"/>
            <a:ext cx="12192000" cy="419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 and Objectives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609600" y="10287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609600" y="1447800"/>
            <a:ext cx="10972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project focuses on the comprehensive design and implementation of a secure and scalable multi-site company network utilizing Cisco Packet Tracer. The primary goal is to establish a robust network infrastructure that supports two distinct branches connected via a central main router, ensuring efficient and secure communication.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609600" y="25527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1219200" y="30861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&amp; Scalable Network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219200" y="3352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a robust network infrastructure supporting two branches via a central router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6781800" y="30861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Implementation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6781800" y="3352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Implementing VLANs for departmental segmentation and broadcast domain control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1219200" y="42291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OSPF Routing Configuration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1219200" y="4495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Configuring dynamic routing protocol for efficient packet forwarding across sites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781800" y="42291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Control Lists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6781800" y="4495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Establishing ACLs for granular traffic control and network security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1219200" y="53721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&amp; DNS Services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1219200" y="5638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Setting up automated IP assignment and name resolution services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781800" y="53721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 &amp; Port Security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6781800" y="56388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Deploying NAT for IP conservation and security enhancements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609600" y="66294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10749260" y="66294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 of 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514600"/>
            <a:ext cx="5181600" cy="876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5908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63" y="264795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05200"/>
            <a:ext cx="518160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81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238" y="363855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95800"/>
            <a:ext cx="518160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5720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219200"/>
            <a:ext cx="5181600" cy="3048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Topology and Architecture</a:t>
            </a:r>
            <a:endParaRPr lang="en-US" sz="2250" dirty="0"/>
          </a:p>
        </p:txBody>
      </p:sp>
      <p:sp>
        <p:nvSpPr>
          <p:cNvPr id="16" name="Text 1"/>
          <p:cNvSpPr/>
          <p:nvPr/>
        </p:nvSpPr>
        <p:spPr>
          <a:xfrm>
            <a:off x="609600" y="8001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Dual-Branch Topology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609600" y="1219200"/>
            <a:ext cx="51816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network uses a dual-branch topology with Branch 1 and Branch 2 connected via a Main Router. This facilitates inter-branch communication and centralized management.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609600" y="21717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Three-Tier Hierarchical Model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219200" y="25908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Layer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1219200" y="28575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Connects end devices to the network. Implemented through VLANs for departmental segmentation.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1219200" y="35814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Layer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1219200" y="38481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Interconnects different VLANs and enforces security policies. Handles routing and filtering.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1219200" y="4572000"/>
            <a:ext cx="449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Layer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1219200" y="48387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high-speed backbone connectivity between branches. Uses OSPF for optimal path selection.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400800" y="8001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Topology Diagram</a:t>
            </a:r>
            <a:endParaRPr lang="en-US" sz="1800" dirty="0"/>
          </a:p>
        </p:txBody>
      </p:sp>
      <p:sp>
        <p:nvSpPr>
          <p:cNvPr id="26" name="Text 11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10749260" y="65532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of 13</a:t>
            </a:r>
            <a:endParaRPr lang="en-US" sz="1050" dirty="0"/>
          </a:p>
        </p:txBody>
      </p:sp>
      <p:sp>
        <p:nvSpPr>
          <p:cNvPr id="31" name="AutoShape 2">
            <a:extLst>
              <a:ext uri="{FF2B5EF4-FFF2-40B4-BE49-F238E27FC236}">
                <a16:creationId xmlns:a16="http://schemas.microsoft.com/office/drawing/2014/main" id="{59B5554B-ED19-AC44-4B72-75E85B2A1A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ECFDFC3-8639-6646-ED62-BCD439D196F8}"/>
              </a:ext>
            </a:extLst>
          </p:cNvPr>
          <p:cNvSpPr/>
          <p:nvPr/>
        </p:nvSpPr>
        <p:spPr>
          <a:xfrm>
            <a:off x="748273" y="4650845"/>
            <a:ext cx="266533" cy="225955"/>
          </a:xfrm>
          <a:prstGeom prst="cub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45236F1-DA24-BAC2-6350-8B453D7EFB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192306"/>
            <a:ext cx="5676900" cy="2960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19150"/>
            <a:ext cx="238125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52600"/>
            <a:ext cx="109728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52600"/>
            <a:ext cx="1903214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2814" y="1752600"/>
            <a:ext cx="2296716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530" y="1752600"/>
            <a:ext cx="1776264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5793" y="1752600"/>
            <a:ext cx="2734419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0213" y="1752600"/>
            <a:ext cx="2262188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133600"/>
            <a:ext cx="109728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133600"/>
            <a:ext cx="1903214" cy="1371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2133600"/>
            <a:ext cx="2296716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2133600"/>
            <a:ext cx="1776264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2133600"/>
            <a:ext cx="2734419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2133600"/>
            <a:ext cx="2262188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2476500"/>
            <a:ext cx="1097280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2476500"/>
            <a:ext cx="2296716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2476500"/>
            <a:ext cx="1776264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2476500"/>
            <a:ext cx="2734419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2476500"/>
            <a:ext cx="2262188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2819400"/>
            <a:ext cx="109728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2819400"/>
            <a:ext cx="2296716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2819400"/>
            <a:ext cx="1776264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2819400"/>
            <a:ext cx="2734419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2819400"/>
            <a:ext cx="2262188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3162300"/>
            <a:ext cx="109728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3162300"/>
            <a:ext cx="2296716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3162300"/>
            <a:ext cx="1776264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3162300"/>
            <a:ext cx="2734419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3162300"/>
            <a:ext cx="2262188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505200"/>
            <a:ext cx="10972800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505200"/>
            <a:ext cx="1903214" cy="1371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3505200"/>
            <a:ext cx="2296716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3505200"/>
            <a:ext cx="1776264" cy="3429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3505200"/>
            <a:ext cx="2734419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3505200"/>
            <a:ext cx="2262188" cy="3429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3848100"/>
            <a:ext cx="10972800" cy="3429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3848100"/>
            <a:ext cx="2296716" cy="3429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3848100"/>
            <a:ext cx="1776264" cy="3429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3848100"/>
            <a:ext cx="2734419" cy="342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3848100"/>
            <a:ext cx="2262188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191000"/>
            <a:ext cx="10972800" cy="3429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4191000"/>
            <a:ext cx="2296716" cy="3429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4191000"/>
            <a:ext cx="1776264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4191000"/>
            <a:ext cx="2734419" cy="3429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4191000"/>
            <a:ext cx="2262188" cy="3429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533900"/>
            <a:ext cx="109728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4533900"/>
            <a:ext cx="2296716" cy="3429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4533900"/>
            <a:ext cx="1776264" cy="3429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4533900"/>
            <a:ext cx="2734419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0213" y="4533900"/>
            <a:ext cx="2262188" cy="3429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876800"/>
            <a:ext cx="10972800" cy="3429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876800"/>
            <a:ext cx="1903214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814" y="4876800"/>
            <a:ext cx="2296716" cy="3429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9530" y="4876800"/>
            <a:ext cx="1776264" cy="3429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5793" y="4876800"/>
            <a:ext cx="2734419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219700"/>
            <a:ext cx="10972800" cy="3429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5219700"/>
            <a:ext cx="10972800" cy="3429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61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Addressing Scheme</a:t>
            </a:r>
            <a:endParaRPr lang="en-US" sz="2250" dirty="0"/>
          </a:p>
        </p:txBody>
      </p:sp>
      <p:sp>
        <p:nvSpPr>
          <p:cNvPr id="62" name="Text 1"/>
          <p:cNvSpPr/>
          <p:nvPr/>
        </p:nvSpPr>
        <p:spPr>
          <a:xfrm>
            <a:off x="962025" y="800100"/>
            <a:ext cx="466986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IP Addressing Plan</a:t>
            </a:r>
            <a:endParaRPr lang="en-US" sz="1800" dirty="0"/>
          </a:p>
        </p:txBody>
      </p:sp>
      <p:sp>
        <p:nvSpPr>
          <p:cNvPr id="63" name="Text 2"/>
          <p:cNvSpPr/>
          <p:nvPr/>
        </p:nvSpPr>
        <p:spPr>
          <a:xfrm>
            <a:off x="609600" y="11430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well-structured IP addressing scheme is critical for efficient network operation. The following table outlines the IP addressing plan for both branches and core WAN links.</a:t>
            </a:r>
            <a:endParaRPr lang="en-US" sz="1350" dirty="0"/>
          </a:p>
        </p:txBody>
      </p:sp>
      <p:sp>
        <p:nvSpPr>
          <p:cNvPr id="64" name="Text 3"/>
          <p:cNvSpPr/>
          <p:nvPr/>
        </p:nvSpPr>
        <p:spPr>
          <a:xfrm>
            <a:off x="685800" y="1752600"/>
            <a:ext cx="190321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</a:t>
            </a:r>
            <a:endParaRPr lang="en-US" sz="1200" dirty="0"/>
          </a:p>
        </p:txBody>
      </p:sp>
      <p:sp>
        <p:nvSpPr>
          <p:cNvPr id="65" name="Text 4"/>
          <p:cNvSpPr/>
          <p:nvPr/>
        </p:nvSpPr>
        <p:spPr>
          <a:xfrm>
            <a:off x="2589014" y="1752600"/>
            <a:ext cx="22967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66" name="Text 5"/>
          <p:cNvSpPr/>
          <p:nvPr/>
        </p:nvSpPr>
        <p:spPr>
          <a:xfrm>
            <a:off x="4885730" y="1752600"/>
            <a:ext cx="177626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ID</a:t>
            </a:r>
            <a:endParaRPr lang="en-US" sz="1200" dirty="0"/>
          </a:p>
        </p:txBody>
      </p:sp>
      <p:sp>
        <p:nvSpPr>
          <p:cNvPr id="67" name="Text 6"/>
          <p:cNvSpPr/>
          <p:nvPr/>
        </p:nvSpPr>
        <p:spPr>
          <a:xfrm>
            <a:off x="6661993" y="1752600"/>
            <a:ext cx="273441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SUBNET</a:t>
            </a:r>
            <a:endParaRPr lang="en-US" sz="1200" dirty="0"/>
          </a:p>
        </p:txBody>
      </p:sp>
      <p:sp>
        <p:nvSpPr>
          <p:cNvPr id="68" name="Text 7"/>
          <p:cNvSpPr/>
          <p:nvPr/>
        </p:nvSpPr>
        <p:spPr>
          <a:xfrm>
            <a:off x="9396413" y="1752600"/>
            <a:ext cx="226218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GATEWAY</a:t>
            </a:r>
            <a:endParaRPr lang="en-US" sz="1200" dirty="0"/>
          </a:p>
        </p:txBody>
      </p:sp>
      <p:sp>
        <p:nvSpPr>
          <p:cNvPr id="69" name="Text 8"/>
          <p:cNvSpPr/>
          <p:nvPr/>
        </p:nvSpPr>
        <p:spPr>
          <a:xfrm>
            <a:off x="685800" y="2133600"/>
            <a:ext cx="1903214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1</a:t>
            </a:r>
            <a:endParaRPr lang="en-US" sz="1200" dirty="0"/>
          </a:p>
        </p:txBody>
      </p:sp>
      <p:sp>
        <p:nvSpPr>
          <p:cNvPr id="70" name="Text 9"/>
          <p:cNvSpPr/>
          <p:nvPr/>
        </p:nvSpPr>
        <p:spPr>
          <a:xfrm>
            <a:off x="2589014" y="21336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 (LAN)</a:t>
            </a:r>
            <a:endParaRPr lang="en-US" sz="1200" dirty="0"/>
          </a:p>
        </p:txBody>
      </p:sp>
      <p:sp>
        <p:nvSpPr>
          <p:cNvPr id="71" name="Text 10"/>
          <p:cNvSpPr/>
          <p:nvPr/>
        </p:nvSpPr>
        <p:spPr>
          <a:xfrm>
            <a:off x="4885730" y="21336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1200" dirty="0"/>
          </a:p>
        </p:txBody>
      </p:sp>
      <p:sp>
        <p:nvSpPr>
          <p:cNvPr id="72" name="Text 11"/>
          <p:cNvSpPr/>
          <p:nvPr/>
        </p:nvSpPr>
        <p:spPr>
          <a:xfrm>
            <a:off x="6661993" y="21336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192.168.10.0/24</a:t>
            </a:r>
            <a:endParaRPr lang="en-US" sz="1200" dirty="0"/>
          </a:p>
        </p:txBody>
      </p:sp>
      <p:sp>
        <p:nvSpPr>
          <p:cNvPr id="73" name="Text 12"/>
          <p:cNvSpPr/>
          <p:nvPr/>
        </p:nvSpPr>
        <p:spPr>
          <a:xfrm>
            <a:off x="9396413" y="21336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192.168.10.1</a:t>
            </a:r>
            <a:endParaRPr lang="en-US" sz="1200" dirty="0"/>
          </a:p>
        </p:txBody>
      </p:sp>
      <p:sp>
        <p:nvSpPr>
          <p:cNvPr id="74" name="Text 13"/>
          <p:cNvSpPr/>
          <p:nvPr/>
        </p:nvSpPr>
        <p:spPr>
          <a:xfrm>
            <a:off x="2589014" y="24765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(LAN)</a:t>
            </a:r>
            <a:endParaRPr lang="en-US" sz="1200" dirty="0"/>
          </a:p>
        </p:txBody>
      </p:sp>
      <p:sp>
        <p:nvSpPr>
          <p:cNvPr id="75" name="Text 14"/>
          <p:cNvSpPr/>
          <p:nvPr/>
        </p:nvSpPr>
        <p:spPr>
          <a:xfrm>
            <a:off x="4885730" y="24765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</a:t>
            </a:r>
            <a:endParaRPr lang="en-US" sz="1200" dirty="0"/>
          </a:p>
        </p:txBody>
      </p:sp>
      <p:sp>
        <p:nvSpPr>
          <p:cNvPr id="76" name="Text 15"/>
          <p:cNvSpPr/>
          <p:nvPr/>
        </p:nvSpPr>
        <p:spPr>
          <a:xfrm>
            <a:off x="6661993" y="24765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192.168.20.0/24</a:t>
            </a:r>
            <a:endParaRPr lang="en-US" sz="1200" dirty="0"/>
          </a:p>
        </p:txBody>
      </p:sp>
      <p:sp>
        <p:nvSpPr>
          <p:cNvPr id="77" name="Text 16"/>
          <p:cNvSpPr/>
          <p:nvPr/>
        </p:nvSpPr>
        <p:spPr>
          <a:xfrm>
            <a:off x="9396413" y="24765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192.168.20.1</a:t>
            </a:r>
            <a:endParaRPr lang="en-US" sz="1200" dirty="0"/>
          </a:p>
        </p:txBody>
      </p:sp>
      <p:sp>
        <p:nvSpPr>
          <p:cNvPr id="78" name="Text 17"/>
          <p:cNvSpPr/>
          <p:nvPr/>
        </p:nvSpPr>
        <p:spPr>
          <a:xfrm>
            <a:off x="2589014" y="28194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(LAN)</a:t>
            </a:r>
            <a:endParaRPr lang="en-US" sz="1200" dirty="0"/>
          </a:p>
        </p:txBody>
      </p:sp>
      <p:sp>
        <p:nvSpPr>
          <p:cNvPr id="79" name="Text 18"/>
          <p:cNvSpPr/>
          <p:nvPr/>
        </p:nvSpPr>
        <p:spPr>
          <a:xfrm>
            <a:off x="4885730" y="28194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</a:t>
            </a:r>
            <a:endParaRPr lang="en-US" sz="1200" dirty="0"/>
          </a:p>
        </p:txBody>
      </p:sp>
      <p:sp>
        <p:nvSpPr>
          <p:cNvPr id="80" name="Text 19"/>
          <p:cNvSpPr/>
          <p:nvPr/>
        </p:nvSpPr>
        <p:spPr>
          <a:xfrm>
            <a:off x="6661993" y="28194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192.168.30.0/24</a:t>
            </a:r>
            <a:endParaRPr lang="en-US" sz="1200" dirty="0"/>
          </a:p>
        </p:txBody>
      </p:sp>
      <p:sp>
        <p:nvSpPr>
          <p:cNvPr id="81" name="Text 20"/>
          <p:cNvSpPr/>
          <p:nvPr/>
        </p:nvSpPr>
        <p:spPr>
          <a:xfrm>
            <a:off x="9396413" y="28194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192.168.30.1</a:t>
            </a:r>
            <a:endParaRPr lang="en-US" sz="1200" dirty="0"/>
          </a:p>
        </p:txBody>
      </p:sp>
      <p:sp>
        <p:nvSpPr>
          <p:cNvPr id="82" name="Text 21"/>
          <p:cNvSpPr/>
          <p:nvPr/>
        </p:nvSpPr>
        <p:spPr>
          <a:xfrm>
            <a:off x="2589014" y="3162300"/>
            <a:ext cx="275605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Finance (LAN)</a:t>
            </a:r>
            <a:endParaRPr lang="en-US" sz="1200" dirty="0"/>
          </a:p>
        </p:txBody>
      </p:sp>
      <p:sp>
        <p:nvSpPr>
          <p:cNvPr id="83" name="Text 22"/>
          <p:cNvSpPr/>
          <p:nvPr/>
        </p:nvSpPr>
        <p:spPr>
          <a:xfrm>
            <a:off x="4885730" y="31623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40</a:t>
            </a:r>
            <a:endParaRPr lang="en-US" sz="1200" dirty="0"/>
          </a:p>
        </p:txBody>
      </p:sp>
      <p:sp>
        <p:nvSpPr>
          <p:cNvPr id="84" name="Text 23"/>
          <p:cNvSpPr/>
          <p:nvPr/>
        </p:nvSpPr>
        <p:spPr>
          <a:xfrm>
            <a:off x="6661993" y="31623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192.168.40.0/24</a:t>
            </a:r>
            <a:endParaRPr lang="en-US" sz="1200" dirty="0"/>
          </a:p>
        </p:txBody>
      </p:sp>
      <p:sp>
        <p:nvSpPr>
          <p:cNvPr id="85" name="Text 24"/>
          <p:cNvSpPr/>
          <p:nvPr/>
        </p:nvSpPr>
        <p:spPr>
          <a:xfrm>
            <a:off x="9396413" y="31623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192.168.40.1</a:t>
            </a:r>
            <a:endParaRPr lang="en-US" sz="1200" dirty="0"/>
          </a:p>
        </p:txBody>
      </p:sp>
      <p:sp>
        <p:nvSpPr>
          <p:cNvPr id="86" name="Text 25"/>
          <p:cNvSpPr/>
          <p:nvPr/>
        </p:nvSpPr>
        <p:spPr>
          <a:xfrm>
            <a:off x="685800" y="3505200"/>
            <a:ext cx="1903214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2</a:t>
            </a:r>
            <a:endParaRPr lang="en-US" sz="1200" dirty="0"/>
          </a:p>
        </p:txBody>
      </p:sp>
      <p:sp>
        <p:nvSpPr>
          <p:cNvPr id="87" name="Text 26"/>
          <p:cNvSpPr/>
          <p:nvPr/>
        </p:nvSpPr>
        <p:spPr>
          <a:xfrm>
            <a:off x="2589014" y="35052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 (LAN)</a:t>
            </a:r>
            <a:endParaRPr lang="en-US" sz="1200" dirty="0"/>
          </a:p>
        </p:txBody>
      </p:sp>
      <p:sp>
        <p:nvSpPr>
          <p:cNvPr id="88" name="Text 27"/>
          <p:cNvSpPr/>
          <p:nvPr/>
        </p:nvSpPr>
        <p:spPr>
          <a:xfrm>
            <a:off x="4885730" y="35052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</a:t>
            </a:r>
            <a:endParaRPr lang="en-US" sz="1200" dirty="0"/>
          </a:p>
        </p:txBody>
      </p:sp>
      <p:sp>
        <p:nvSpPr>
          <p:cNvPr id="89" name="Text 28"/>
          <p:cNvSpPr/>
          <p:nvPr/>
        </p:nvSpPr>
        <p:spPr>
          <a:xfrm>
            <a:off x="6661993" y="35052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192.168.60.0/24</a:t>
            </a:r>
            <a:endParaRPr lang="en-US" sz="1200" dirty="0"/>
          </a:p>
        </p:txBody>
      </p:sp>
      <p:sp>
        <p:nvSpPr>
          <p:cNvPr id="90" name="Text 29"/>
          <p:cNvSpPr/>
          <p:nvPr/>
        </p:nvSpPr>
        <p:spPr>
          <a:xfrm>
            <a:off x="9396413" y="35052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192.168.60.1</a:t>
            </a:r>
            <a:endParaRPr lang="en-US" sz="1200" dirty="0"/>
          </a:p>
        </p:txBody>
      </p:sp>
      <p:sp>
        <p:nvSpPr>
          <p:cNvPr id="91" name="Text 30"/>
          <p:cNvSpPr/>
          <p:nvPr/>
        </p:nvSpPr>
        <p:spPr>
          <a:xfrm>
            <a:off x="2589014" y="38481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(LAN)</a:t>
            </a:r>
            <a:endParaRPr lang="en-US" sz="1200" dirty="0"/>
          </a:p>
        </p:txBody>
      </p:sp>
      <p:sp>
        <p:nvSpPr>
          <p:cNvPr id="92" name="Text 31"/>
          <p:cNvSpPr/>
          <p:nvPr/>
        </p:nvSpPr>
        <p:spPr>
          <a:xfrm>
            <a:off x="4885730" y="38481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</a:t>
            </a:r>
            <a:endParaRPr lang="en-US" sz="1200" dirty="0"/>
          </a:p>
        </p:txBody>
      </p:sp>
      <p:sp>
        <p:nvSpPr>
          <p:cNvPr id="93" name="Text 32"/>
          <p:cNvSpPr/>
          <p:nvPr/>
        </p:nvSpPr>
        <p:spPr>
          <a:xfrm>
            <a:off x="6661993" y="38481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192.168.70.0/24</a:t>
            </a:r>
            <a:endParaRPr lang="en-US" sz="1200" dirty="0"/>
          </a:p>
        </p:txBody>
      </p:sp>
      <p:sp>
        <p:nvSpPr>
          <p:cNvPr id="94" name="Text 33"/>
          <p:cNvSpPr/>
          <p:nvPr/>
        </p:nvSpPr>
        <p:spPr>
          <a:xfrm>
            <a:off x="9396413" y="38481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192.168.70.1</a:t>
            </a:r>
            <a:endParaRPr lang="en-US" sz="1200" dirty="0"/>
          </a:p>
        </p:txBody>
      </p:sp>
      <p:sp>
        <p:nvSpPr>
          <p:cNvPr id="95" name="Text 34"/>
          <p:cNvSpPr/>
          <p:nvPr/>
        </p:nvSpPr>
        <p:spPr>
          <a:xfrm>
            <a:off x="2589014" y="41910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(LAN)</a:t>
            </a:r>
            <a:endParaRPr lang="en-US" sz="1200" dirty="0"/>
          </a:p>
        </p:txBody>
      </p:sp>
      <p:sp>
        <p:nvSpPr>
          <p:cNvPr id="96" name="Text 35"/>
          <p:cNvSpPr/>
          <p:nvPr/>
        </p:nvSpPr>
        <p:spPr>
          <a:xfrm>
            <a:off x="4885730" y="41910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</a:t>
            </a:r>
            <a:endParaRPr lang="en-US" sz="1200" dirty="0"/>
          </a:p>
        </p:txBody>
      </p:sp>
      <p:sp>
        <p:nvSpPr>
          <p:cNvPr id="97" name="Text 36"/>
          <p:cNvSpPr/>
          <p:nvPr/>
        </p:nvSpPr>
        <p:spPr>
          <a:xfrm>
            <a:off x="6661993" y="41910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192.168.80.0/24</a:t>
            </a:r>
            <a:endParaRPr lang="en-US" sz="1200" dirty="0"/>
          </a:p>
        </p:txBody>
      </p:sp>
      <p:sp>
        <p:nvSpPr>
          <p:cNvPr id="98" name="Text 37"/>
          <p:cNvSpPr/>
          <p:nvPr/>
        </p:nvSpPr>
        <p:spPr>
          <a:xfrm>
            <a:off x="9396413" y="41910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192.168.80.1</a:t>
            </a:r>
            <a:endParaRPr lang="en-US" sz="1200" dirty="0"/>
          </a:p>
        </p:txBody>
      </p:sp>
      <p:sp>
        <p:nvSpPr>
          <p:cNvPr id="99" name="Text 38"/>
          <p:cNvSpPr/>
          <p:nvPr/>
        </p:nvSpPr>
        <p:spPr>
          <a:xfrm>
            <a:off x="2589014" y="4533900"/>
            <a:ext cx="275605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Finance (LAN)</a:t>
            </a:r>
            <a:endParaRPr lang="en-US" sz="1200" dirty="0"/>
          </a:p>
        </p:txBody>
      </p:sp>
      <p:sp>
        <p:nvSpPr>
          <p:cNvPr id="100" name="Text 39"/>
          <p:cNvSpPr/>
          <p:nvPr/>
        </p:nvSpPr>
        <p:spPr>
          <a:xfrm>
            <a:off x="4885730" y="45339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</a:t>
            </a:r>
            <a:endParaRPr lang="en-US" sz="1200" dirty="0"/>
          </a:p>
        </p:txBody>
      </p:sp>
      <p:sp>
        <p:nvSpPr>
          <p:cNvPr id="101" name="Text 40"/>
          <p:cNvSpPr/>
          <p:nvPr/>
        </p:nvSpPr>
        <p:spPr>
          <a:xfrm>
            <a:off x="6661993" y="4533900"/>
            <a:ext cx="328130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192.168.90.0/24</a:t>
            </a:r>
            <a:endParaRPr lang="en-US" sz="1200" dirty="0"/>
          </a:p>
        </p:txBody>
      </p:sp>
      <p:sp>
        <p:nvSpPr>
          <p:cNvPr id="102" name="Text 41"/>
          <p:cNvSpPr/>
          <p:nvPr/>
        </p:nvSpPr>
        <p:spPr>
          <a:xfrm>
            <a:off x="9396413" y="4533900"/>
            <a:ext cx="27146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192.168.90.1</a:t>
            </a:r>
            <a:endParaRPr lang="en-US" sz="1200" dirty="0"/>
          </a:p>
        </p:txBody>
      </p:sp>
      <p:sp>
        <p:nvSpPr>
          <p:cNvPr id="103" name="Text 42"/>
          <p:cNvSpPr/>
          <p:nvPr/>
        </p:nvSpPr>
        <p:spPr>
          <a:xfrm>
            <a:off x="685800" y="4876800"/>
            <a:ext cx="19032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WAN/CORE</a:t>
            </a:r>
            <a:endParaRPr lang="en-US" sz="1200" dirty="0"/>
          </a:p>
        </p:txBody>
      </p:sp>
      <p:sp>
        <p:nvSpPr>
          <p:cNvPr id="104" name="Text 43"/>
          <p:cNvSpPr/>
          <p:nvPr/>
        </p:nvSpPr>
        <p:spPr>
          <a:xfrm>
            <a:off x="2589014" y="4876800"/>
            <a:ext cx="22967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Links</a:t>
            </a:r>
            <a:endParaRPr lang="en-US" sz="1200" dirty="0"/>
          </a:p>
        </p:txBody>
      </p:sp>
      <p:sp>
        <p:nvSpPr>
          <p:cNvPr id="105" name="Text 44"/>
          <p:cNvSpPr/>
          <p:nvPr/>
        </p:nvSpPr>
        <p:spPr>
          <a:xfrm>
            <a:off x="4885730" y="4876800"/>
            <a:ext cx="17762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Ranges</a:t>
            </a:r>
            <a:endParaRPr lang="en-US" sz="1200" dirty="0"/>
          </a:p>
        </p:txBody>
      </p:sp>
      <p:sp>
        <p:nvSpPr>
          <p:cNvPr id="106" name="Text 45"/>
          <p:cNvSpPr/>
          <p:nvPr/>
        </p:nvSpPr>
        <p:spPr>
          <a:xfrm>
            <a:off x="6661993" y="4876800"/>
            <a:ext cx="273441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Gateways</a:t>
            </a:r>
            <a:endParaRPr lang="en-US" sz="1200" dirty="0"/>
          </a:p>
        </p:txBody>
      </p:sp>
      <p:sp>
        <p:nvSpPr>
          <p:cNvPr id="107" name="Text 46"/>
          <p:cNvSpPr/>
          <p:nvPr/>
        </p:nvSpPr>
        <p:spPr>
          <a:xfrm>
            <a:off x="685800" y="5219700"/>
            <a:ext cx="131673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Br1-WAN1: 192.168.1.0/24, Br2-WAN2: 192.168.3.0/24, Central Web: 192.168.5.0/24</a:t>
            </a:r>
            <a:endParaRPr lang="en-US" sz="1200" dirty="0"/>
          </a:p>
        </p:txBody>
      </p:sp>
      <p:sp>
        <p:nvSpPr>
          <p:cNvPr id="108" name="Text 47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109" name="Text 48"/>
          <p:cNvSpPr/>
          <p:nvPr/>
        </p:nvSpPr>
        <p:spPr>
          <a:xfrm>
            <a:off x="10749260" y="65532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of 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5908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956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004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886200"/>
            <a:ext cx="25908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3886200"/>
            <a:ext cx="25908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33900"/>
            <a:ext cx="25908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4533900"/>
            <a:ext cx="25908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981200"/>
            <a:ext cx="5257800" cy="2095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0" y="2590800"/>
            <a:ext cx="1905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2552700"/>
            <a:ext cx="1143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2552700"/>
            <a:ext cx="1143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3219450"/>
            <a:ext cx="1143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100" y="3219450"/>
            <a:ext cx="1143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7528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4305300"/>
            <a:ext cx="5257800" cy="2095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553200"/>
            <a:ext cx="12192000" cy="4191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114300"/>
            <a:ext cx="1408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Implementation and Inter-VLAN Routing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609600" y="952500"/>
            <a:ext cx="5257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Implementation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609600" y="1371600"/>
            <a:ext cx="5257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VLANs segment the network into distinct broadcast domains, enhancing security and managing traffic efficiently. Each department is assigned a unique VLAN ID.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609600" y="22098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Benefits: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838200" y="2552700"/>
            <a:ext cx="45930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 through network segmentation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38200" y="2857500"/>
            <a:ext cx="2352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broadcast traffic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38200" y="3162300"/>
            <a:ext cx="28982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network performance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09600" y="35433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Assignments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85800" y="3962400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1 HR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85800" y="4191000"/>
            <a:ext cx="2438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10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3352800" y="3962400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1 IT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3352800" y="4191000"/>
            <a:ext cx="2438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20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685800" y="4610100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2 HR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85800" y="4838700"/>
            <a:ext cx="2438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60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3352800" y="4610100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2 IT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3352800" y="4838700"/>
            <a:ext cx="2438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70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324600" y="952500"/>
            <a:ext cx="63093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Router-on-a-Stick Configuration</a:t>
            </a:r>
            <a:endParaRPr lang="en-US" sz="1800" dirty="0"/>
          </a:p>
        </p:txBody>
      </p:sp>
      <p:sp>
        <p:nvSpPr>
          <p:cNvPr id="37" name="Text 17"/>
          <p:cNvSpPr/>
          <p:nvPr/>
        </p:nvSpPr>
        <p:spPr>
          <a:xfrm>
            <a:off x="6324600" y="1371600"/>
            <a:ext cx="5257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Inter-VLAN communication is facilitated using a single physical interface with multiple sub-interfaces.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6987034" y="2571750"/>
            <a:ext cx="695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G0/1.10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7031980" y="2762250"/>
            <a:ext cx="58810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10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8320534" y="2571750"/>
            <a:ext cx="695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G0/1.20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8365480" y="2762250"/>
            <a:ext cx="58810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20</a:t>
            </a:r>
            <a:endParaRPr lang="en-US" sz="900" dirty="0"/>
          </a:p>
        </p:txBody>
      </p:sp>
      <p:sp>
        <p:nvSpPr>
          <p:cNvPr id="42" name="Text 22"/>
          <p:cNvSpPr/>
          <p:nvPr/>
        </p:nvSpPr>
        <p:spPr>
          <a:xfrm>
            <a:off x="6987034" y="3238500"/>
            <a:ext cx="695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G0/1.60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7031980" y="3429000"/>
            <a:ext cx="58810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60</a:t>
            </a:r>
            <a:endParaRPr lang="en-US" sz="900" dirty="0"/>
          </a:p>
        </p:txBody>
      </p:sp>
      <p:sp>
        <p:nvSpPr>
          <p:cNvPr id="44" name="Text 24"/>
          <p:cNvSpPr/>
          <p:nvPr/>
        </p:nvSpPr>
        <p:spPr>
          <a:xfrm>
            <a:off x="8320534" y="3238500"/>
            <a:ext cx="6959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G0/1.70</a:t>
            </a:r>
            <a:endParaRPr lang="en-US" sz="1050" dirty="0"/>
          </a:p>
        </p:txBody>
      </p:sp>
      <p:sp>
        <p:nvSpPr>
          <p:cNvPr id="45" name="Text 25"/>
          <p:cNvSpPr/>
          <p:nvPr/>
        </p:nvSpPr>
        <p:spPr>
          <a:xfrm>
            <a:off x="8365480" y="3429000"/>
            <a:ext cx="58810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VLAN 70</a:t>
            </a:r>
            <a:endParaRPr lang="en-US" sz="900" dirty="0"/>
          </a:p>
        </p:txBody>
      </p:sp>
      <p:sp>
        <p:nvSpPr>
          <p:cNvPr id="46" name="Text 26"/>
          <p:cNvSpPr/>
          <p:nvPr/>
        </p:nvSpPr>
        <p:spPr>
          <a:xfrm>
            <a:off x="6743700" y="3733800"/>
            <a:ext cx="13669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Networks</a:t>
            </a:r>
            <a:endParaRPr lang="en-US" sz="1050" dirty="0"/>
          </a:p>
        </p:txBody>
      </p:sp>
      <p:sp>
        <p:nvSpPr>
          <p:cNvPr id="47" name="Text 27"/>
          <p:cNvSpPr/>
          <p:nvPr/>
        </p:nvSpPr>
        <p:spPr>
          <a:xfrm>
            <a:off x="6438900" y="44196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 Configuration:</a:t>
            </a:r>
            <a:endParaRPr lang="en-US" sz="1350" dirty="0"/>
          </a:p>
        </p:txBody>
      </p:sp>
      <p:sp>
        <p:nvSpPr>
          <p:cNvPr id="48" name="Text 28"/>
          <p:cNvSpPr/>
          <p:nvPr/>
        </p:nvSpPr>
        <p:spPr>
          <a:xfrm>
            <a:off x="6438900" y="4781550"/>
            <a:ext cx="3041005" cy="1485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interface g0/1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no ip address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shutdown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interface g0/1.10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encapsulation dot1Q 10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ip address 192.168.10.1 255.255.255.0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no shutdown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        </a:t>
            </a:r>
            <a:endParaRPr lang="en-US" sz="1050" dirty="0"/>
          </a:p>
        </p:txBody>
      </p:sp>
      <p:sp>
        <p:nvSpPr>
          <p:cNvPr id="49" name="Text 29"/>
          <p:cNvSpPr/>
          <p:nvPr/>
        </p:nvSpPr>
        <p:spPr>
          <a:xfrm>
            <a:off x="609600" y="66675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10749260" y="6667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of 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289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9337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385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00500"/>
            <a:ext cx="5181600" cy="6762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6843" y="2705100"/>
            <a:ext cx="1293157" cy="129315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0" y="2705100"/>
            <a:ext cx="1293157" cy="129315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OSPF Routing Configuration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609600" y="9525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Routing Protocol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609600" y="1409700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OSPF (Open Shortest Path First) is a link-state routing protocol that ensures optimal path selection and rapid convergence in case of network changes.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609600" y="22479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Benefits: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838200" y="2590800"/>
            <a:ext cx="20775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Optimal path selection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838200" y="2895600"/>
            <a:ext cx="17548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convergence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838200" y="3200400"/>
            <a:ext cx="9401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609600" y="36576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Configuration Commands: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723900" y="4114800"/>
            <a:ext cx="49530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router ospf 1</a:t>
            </a:r>
            <a:endParaRPr lang="en-US" sz="975" dirty="0"/>
          </a:p>
        </p:txBody>
      </p:sp>
      <p:sp>
        <p:nvSpPr>
          <p:cNvPr id="33" name="Text 9"/>
          <p:cNvSpPr/>
          <p:nvPr/>
        </p:nvSpPr>
        <p:spPr>
          <a:xfrm>
            <a:off x="723900" y="4338638"/>
            <a:ext cx="594360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192.168.0.0 0.0.255.255 area 0</a:t>
            </a:r>
            <a:endParaRPr lang="en-US" sz="975" dirty="0"/>
          </a:p>
        </p:txBody>
      </p:sp>
      <p:sp>
        <p:nvSpPr>
          <p:cNvPr id="35" name="Text 11"/>
          <p:cNvSpPr/>
          <p:nvPr/>
        </p:nvSpPr>
        <p:spPr>
          <a:xfrm>
            <a:off x="6294120" y="1676400"/>
            <a:ext cx="2651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9037320" y="1676400"/>
            <a:ext cx="2651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7665720" y="4762500"/>
            <a:ext cx="2651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7696200" y="2400300"/>
            <a:ext cx="12730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9378553" y="2400300"/>
            <a:ext cx="12730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8342412" y="3962400"/>
            <a:ext cx="17409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42" name="Text 18"/>
          <p:cNvSpPr/>
          <p:nvPr/>
        </p:nvSpPr>
        <p:spPr>
          <a:xfrm>
            <a:off x="10749260" y="65532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of 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52500"/>
            <a:ext cx="5257800" cy="533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1049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716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1145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457450"/>
            <a:ext cx="49530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057650"/>
            <a:ext cx="4953000" cy="33813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952500"/>
            <a:ext cx="5257800" cy="5334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1049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0825" y="11906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7716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1145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457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800350"/>
            <a:ext cx="49530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329565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360045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and DNS Services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1390650" y="1190625"/>
            <a:ext cx="225885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Services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990600" y="1733550"/>
            <a:ext cx="5266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Automates IP address assignment across all departments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990600" y="2076450"/>
            <a:ext cx="49006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servers in each branch (VLAN 201 &amp; 202)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76300" y="257175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Challenge: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876300" y="2914650"/>
            <a:ext cx="5669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broadcasts don't cross VLAN boundaries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762000" y="340995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762000" y="375285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Configured </a:t>
            </a:r>
            <a:r>
              <a:rPr lang="en-US" sz="12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helper-address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on router sub-interfaces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76300" y="4057650"/>
            <a:ext cx="5943600" cy="338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helper-address 192.168.201.10</a:t>
            </a:r>
            <a:endParaRPr lang="en-US" sz="975" dirty="0"/>
          </a:p>
        </p:txBody>
      </p:sp>
      <p:sp>
        <p:nvSpPr>
          <p:cNvPr id="29" name="Text 9"/>
          <p:cNvSpPr/>
          <p:nvPr/>
        </p:nvSpPr>
        <p:spPr>
          <a:xfrm>
            <a:off x="762000" y="4471988"/>
            <a:ext cx="594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Points to DHCP server for all departmental VLANs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7105650" y="1190625"/>
            <a:ext cx="205418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Services</a:t>
            </a:r>
            <a:endParaRPr lang="en-US" sz="1800" dirty="0"/>
          </a:p>
        </p:txBody>
      </p:sp>
      <p:sp>
        <p:nvSpPr>
          <p:cNvPr id="31" name="Text 11"/>
          <p:cNvSpPr/>
          <p:nvPr/>
        </p:nvSpPr>
        <p:spPr>
          <a:xfrm>
            <a:off x="6705600" y="1733550"/>
            <a:ext cx="43158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name resolution for network resources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705600" y="2076450"/>
            <a:ext cx="45064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access using domain names instead of IPs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705600" y="2419350"/>
            <a:ext cx="35720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Simplifies access to central web server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591300" y="291465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Benefits: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6838950" y="3257550"/>
            <a:ext cx="24124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user experience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6838950" y="3562350"/>
            <a:ext cx="32100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Simplifies network resource access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10749260" y="65532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of 13</a:t>
            </a:r>
            <a:endParaRPr lang="en-US" sz="1050" dirty="0"/>
          </a:p>
        </p:txBody>
      </p:sp>
      <p:sp>
        <p:nvSpPr>
          <p:cNvPr id="41" name="Lightning Bolt 40">
            <a:extLst>
              <a:ext uri="{FF2B5EF4-FFF2-40B4-BE49-F238E27FC236}">
                <a16:creationId xmlns:a16="http://schemas.microsoft.com/office/drawing/2014/main" id="{C083E4BD-5E57-D529-5E5C-74D1607C9C7D}"/>
              </a:ext>
            </a:extLst>
          </p:cNvPr>
          <p:cNvSpPr/>
          <p:nvPr/>
        </p:nvSpPr>
        <p:spPr>
          <a:xfrm>
            <a:off x="834032" y="1219200"/>
            <a:ext cx="333375" cy="219075"/>
          </a:xfrm>
          <a:prstGeom prst="lightningBol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52500"/>
            <a:ext cx="5334000" cy="5448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1430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2573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67100"/>
            <a:ext cx="502920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952500"/>
            <a:ext cx="5334000" cy="544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104900"/>
            <a:ext cx="4572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2192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62300"/>
            <a:ext cx="5029200" cy="1371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5029200"/>
            <a:ext cx="5029200" cy="1219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705600"/>
            <a:ext cx="12192000" cy="419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8600" y="114300"/>
            <a:ext cx="1408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 and Port Security Implementation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1371600" y="1104900"/>
            <a:ext cx="44196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Address Translation (NAT)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762000" y="18669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 &amp; Benefits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800100" y="2209800"/>
            <a:ext cx="4991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Conservation: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Internal hosts use single public IP for external access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800100" y="27432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Security: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Hides internal private IPs from external networks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762000" y="31242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 Configuration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876300" y="3581400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Router(config)#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access-list 100 permit ip 192.168.10.0 0.0.0.255 192.168.5.0 0.0.0.255</a:t>
            </a:r>
            <a:endParaRPr lang="en-US" sz="1050" dirty="0"/>
          </a:p>
        </p:txBody>
      </p:sp>
      <p:sp>
        <p:nvSpPr>
          <p:cNvPr id="21" name="Text 7"/>
          <p:cNvSpPr/>
          <p:nvPr/>
        </p:nvSpPr>
        <p:spPr>
          <a:xfrm>
            <a:off x="876300" y="3962400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Router(config)#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nat inside source list 100 interface gigabitEthernet 0/0</a:t>
            </a:r>
            <a:endParaRPr lang="en-US" sz="1050" dirty="0"/>
          </a:p>
        </p:txBody>
      </p:sp>
      <p:sp>
        <p:nvSpPr>
          <p:cNvPr id="22" name="Text 8"/>
          <p:cNvSpPr/>
          <p:nvPr/>
        </p:nvSpPr>
        <p:spPr>
          <a:xfrm>
            <a:off x="876300" y="43434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Router(config)#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gigabitEthernet 0/0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876300" y="45339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Router(config-if)#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nat outside</a:t>
            </a:r>
            <a:endParaRPr lang="en-US" sz="1050" dirty="0"/>
          </a:p>
        </p:txBody>
      </p:sp>
      <p:sp>
        <p:nvSpPr>
          <p:cNvPr id="24" name="Text 10"/>
          <p:cNvSpPr/>
          <p:nvPr/>
        </p:nvSpPr>
        <p:spPr>
          <a:xfrm>
            <a:off x="762000" y="49911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</a:t>
            </a:r>
            <a:endParaRPr lang="en-US" sz="1500" dirty="0"/>
          </a:p>
        </p:txBody>
      </p:sp>
      <p:sp>
        <p:nvSpPr>
          <p:cNvPr id="25" name="Text 11"/>
          <p:cNvSpPr/>
          <p:nvPr/>
        </p:nvSpPr>
        <p:spPr>
          <a:xfrm>
            <a:off x="800100" y="53340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traffic to Central Web Server is NATed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800100" y="56388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Inter-branch traffic bypasses NAT for security inspection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7010400" y="1219200"/>
            <a:ext cx="203221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 Security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6400800" y="17907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 &amp; Benefits</a:t>
            </a:r>
            <a:endParaRPr lang="en-US" sz="1500" dirty="0"/>
          </a:p>
        </p:txBody>
      </p:sp>
      <p:sp>
        <p:nvSpPr>
          <p:cNvPr id="29" name="Text 15"/>
          <p:cNvSpPr/>
          <p:nvPr/>
        </p:nvSpPr>
        <p:spPr>
          <a:xfrm>
            <a:off x="6438900" y="21336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Control: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Prevents unauthorized device connections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6438900" y="2438400"/>
            <a:ext cx="5989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 Address Protection: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Mitigates MAC address spoofing</a:t>
            </a:r>
            <a:endParaRPr lang="en-US" sz="1200" dirty="0"/>
          </a:p>
        </p:txBody>
      </p:sp>
      <p:sp>
        <p:nvSpPr>
          <p:cNvPr id="31" name="Text 17"/>
          <p:cNvSpPr/>
          <p:nvPr/>
        </p:nvSpPr>
        <p:spPr>
          <a:xfrm>
            <a:off x="6400800" y="2819400"/>
            <a:ext cx="6035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 Security Configuration</a:t>
            </a:r>
            <a:endParaRPr lang="en-US" sz="1500" dirty="0"/>
          </a:p>
        </p:txBody>
      </p:sp>
      <p:sp>
        <p:nvSpPr>
          <p:cNvPr id="32" name="Text 18"/>
          <p:cNvSpPr/>
          <p:nvPr/>
        </p:nvSpPr>
        <p:spPr>
          <a:xfrm>
            <a:off x="6515100" y="32766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Switch(config)#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range </a:t>
            </a:r>
            <a:r>
              <a:rPr lang="en-US" sz="1050" dirty="0" err="1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fastEthernet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0/2 - 10</a:t>
            </a:r>
            <a:endParaRPr lang="en-US" sz="1050" dirty="0"/>
          </a:p>
        </p:txBody>
      </p:sp>
      <p:sp>
        <p:nvSpPr>
          <p:cNvPr id="33" name="Text 19"/>
          <p:cNvSpPr/>
          <p:nvPr/>
        </p:nvSpPr>
        <p:spPr>
          <a:xfrm>
            <a:off x="6515100" y="34671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Switch(config-if-range)#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switchport mode access</a:t>
            </a:r>
            <a:endParaRPr lang="en-US" sz="1050" dirty="0"/>
          </a:p>
        </p:txBody>
      </p:sp>
      <p:sp>
        <p:nvSpPr>
          <p:cNvPr id="34" name="Text 20"/>
          <p:cNvSpPr/>
          <p:nvPr/>
        </p:nvSpPr>
        <p:spPr>
          <a:xfrm>
            <a:off x="6515100" y="36576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Switch(config-if-range)#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switchport port-security</a:t>
            </a:r>
            <a:endParaRPr lang="en-US" sz="1050" dirty="0"/>
          </a:p>
        </p:txBody>
      </p:sp>
      <p:sp>
        <p:nvSpPr>
          <p:cNvPr id="35" name="Text 21"/>
          <p:cNvSpPr/>
          <p:nvPr/>
        </p:nvSpPr>
        <p:spPr>
          <a:xfrm>
            <a:off x="6515100" y="38481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Switch(config-if-range)#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switchport port-security maximum 1</a:t>
            </a:r>
            <a:endParaRPr lang="en-US" sz="1050" dirty="0"/>
          </a:p>
        </p:txBody>
      </p:sp>
      <p:sp>
        <p:nvSpPr>
          <p:cNvPr id="36" name="Text 22"/>
          <p:cNvSpPr/>
          <p:nvPr/>
        </p:nvSpPr>
        <p:spPr>
          <a:xfrm>
            <a:off x="6515100" y="4038600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Switch(config-if-range)# </a:t>
            </a:r>
            <a:r>
              <a:rPr lang="en-US" sz="1050" dirty="0">
                <a:solidFill>
                  <a:srgbClr val="DAA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switchport port-security mac-address sticky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6400800" y="46863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Violation Mode</a:t>
            </a:r>
            <a:endParaRPr lang="en-US" sz="1500" dirty="0"/>
          </a:p>
        </p:txBody>
      </p:sp>
      <p:sp>
        <p:nvSpPr>
          <p:cNvPr id="38" name="Text 24"/>
          <p:cNvSpPr/>
          <p:nvPr/>
        </p:nvSpPr>
        <p:spPr>
          <a:xfrm>
            <a:off x="6515100" y="51435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Restrict Mode:</a:t>
            </a:r>
            <a:endParaRPr lang="en-US" sz="1200" dirty="0"/>
          </a:p>
        </p:txBody>
      </p:sp>
      <p:sp>
        <p:nvSpPr>
          <p:cNvPr id="39" name="Text 25"/>
          <p:cNvSpPr/>
          <p:nvPr/>
        </p:nvSpPr>
        <p:spPr>
          <a:xfrm>
            <a:off x="6553200" y="537210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Drops unauthorized traffic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6553200" y="56388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Logs the violation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6553200" y="59055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Keeps port active</a:t>
            </a:r>
            <a:endParaRPr lang="en-US" sz="1200" dirty="0"/>
          </a:p>
        </p:txBody>
      </p:sp>
      <p:sp>
        <p:nvSpPr>
          <p:cNvPr id="42" name="Text 28"/>
          <p:cNvSpPr/>
          <p:nvPr/>
        </p:nvSpPr>
        <p:spPr>
          <a:xfrm>
            <a:off x="609600" y="68199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43" name="Text 29"/>
          <p:cNvSpPr/>
          <p:nvPr/>
        </p:nvSpPr>
        <p:spPr>
          <a:xfrm>
            <a:off x="10749260" y="68199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of 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38300"/>
            <a:ext cx="5410200" cy="107305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173355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182880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38300"/>
            <a:ext cx="5410200" cy="107305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73355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1828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959001"/>
            <a:ext cx="5410200" cy="1073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054251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3149501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959001"/>
            <a:ext cx="5410200" cy="1073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3054251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149501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279850"/>
            <a:ext cx="5410200" cy="1301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4375100"/>
            <a:ext cx="34290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" y="447035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4279850"/>
            <a:ext cx="5410200" cy="1301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5075" y="437510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1275" y="4470350"/>
            <a:ext cx="1905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68333" y="59817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228600" y="114300"/>
            <a:ext cx="1408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Control Lists Security Policies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609600" y="9525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Extended ACLs were implemented on the ingress path of each departmental sub-interface, enforcing the principle of Least Privilege to enhance network security.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1247775" y="1733550"/>
            <a:ext cx="50447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Administrator Access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1247775" y="2000250"/>
            <a:ext cx="50447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department has full outbound access to all networks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6810375" y="1733550"/>
            <a:ext cx="4587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Reverse Protection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6810375" y="2000250"/>
            <a:ext cx="55047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Blocks non-IT users from initiating connections to IT devices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1247775" y="3054251"/>
            <a:ext cx="48048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 Inbound Protection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1247775" y="3320951"/>
            <a:ext cx="48048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 can initiate traffic, but inbound access is blocked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810375" y="3054251"/>
            <a:ext cx="48472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Finance Total Isolation</a:t>
            </a:r>
            <a:endParaRPr lang="en-US" sz="1350" dirty="0"/>
          </a:p>
        </p:txBody>
      </p:sp>
      <p:sp>
        <p:nvSpPr>
          <p:cNvPr id="36" name="Text 9"/>
          <p:cNvSpPr/>
          <p:nvPr/>
        </p:nvSpPr>
        <p:spPr>
          <a:xfrm>
            <a:off x="6810375" y="3320951"/>
            <a:ext cx="48472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external network allowed to access Finance VLAN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1247775" y="4375100"/>
            <a:ext cx="42861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 Isolation</a:t>
            </a:r>
            <a:endParaRPr lang="en-US" sz="1350" dirty="0"/>
          </a:p>
        </p:txBody>
      </p:sp>
      <p:sp>
        <p:nvSpPr>
          <p:cNvPr id="38" name="Text 11"/>
          <p:cNvSpPr/>
          <p:nvPr/>
        </p:nvSpPr>
        <p:spPr>
          <a:xfrm>
            <a:off x="1247775" y="4641800"/>
            <a:ext cx="51433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HR, Finance, and QA restricted to their own local branch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6810375" y="4375100"/>
            <a:ext cx="4629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Cross-Branch Access</a:t>
            </a:r>
            <a:endParaRPr lang="en-US" sz="1350" dirty="0"/>
          </a:p>
        </p:txBody>
      </p:sp>
      <p:sp>
        <p:nvSpPr>
          <p:cNvPr id="40" name="Text 13"/>
          <p:cNvSpPr/>
          <p:nvPr/>
        </p:nvSpPr>
        <p:spPr>
          <a:xfrm>
            <a:off x="6810375" y="4641800"/>
            <a:ext cx="4629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and Sales can access their respective networks in remote branches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895350" y="5943600"/>
            <a:ext cx="5890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8739783" y="5962650"/>
            <a:ext cx="34797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ACLs implemented on all branch routers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45" name="Text 18"/>
          <p:cNvSpPr/>
          <p:nvPr/>
        </p:nvSpPr>
        <p:spPr>
          <a:xfrm>
            <a:off x="10749260" y="65532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of 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14500"/>
            <a:ext cx="5410200" cy="1181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828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8" y="19240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714500"/>
            <a:ext cx="5410200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8288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19240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0400"/>
            <a:ext cx="54102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3147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34099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200400"/>
            <a:ext cx="54102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3147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34099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762500"/>
            <a:ext cx="10972800" cy="1790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953000"/>
            <a:ext cx="14287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05600"/>
            <a:ext cx="12192000" cy="4191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28600" y="114300"/>
            <a:ext cx="140817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Validation and Testing Results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609600" y="952500"/>
            <a:ext cx="109728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testing procedures were conducted to ensure network functionality and effective enforcement of security policies across all segments.</a:t>
            </a:r>
            <a:endParaRPr lang="en-US" sz="1350" dirty="0"/>
          </a:p>
        </p:txBody>
      </p:sp>
      <p:sp>
        <p:nvSpPr>
          <p:cNvPr id="21" name="Text 2"/>
          <p:cNvSpPr/>
          <p:nvPr/>
        </p:nvSpPr>
        <p:spPr>
          <a:xfrm>
            <a:off x="1333500" y="18288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Intra-Branch Communication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333500" y="20955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Tests confirmed expected communication patterns within each branch and enforcement of ACLs for departmental isolation.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6896100" y="18288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Inter-Branch Connectivity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6896100" y="2095500"/>
            <a:ext cx="4572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of secure communication between Branch 1 and Branch 2 through the central Main Router.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333500" y="33147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ACL Enforcement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333500" y="35814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Verification that Access Control Lists properly restrict unauthorized access between departments while allowing legitimate traffic.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6896100" y="3314700"/>
            <a:ext cx="5486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Accessibility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896100" y="3581400"/>
            <a:ext cx="4572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Testing confirmed DHCP, DNS, and web services are accessible to authorized users across all network segments.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981075" y="49149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Results Summary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800100" y="5257800"/>
            <a:ext cx="12755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network segments successfully established connectivity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800100" y="5562600"/>
            <a:ext cx="12755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ACL rules properly enforced data locality and security policies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800100" y="5867400"/>
            <a:ext cx="10629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services functional across all branches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800100" y="6172200"/>
            <a:ext cx="10629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 and Port Security configurations effective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09600" y="68199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10664428" y="68199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11 of 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52500"/>
            <a:ext cx="10972800" cy="2057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83820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9334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1790700"/>
            <a:ext cx="102870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676400"/>
            <a:ext cx="3429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950" y="17716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62300"/>
            <a:ext cx="10972800" cy="2057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48000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075" y="314325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4000500"/>
            <a:ext cx="1028700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3886200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3950" y="39814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Challenges and Solutions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066800" y="1104900"/>
            <a:ext cx="1280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DHCP Issue – Devices Not Receiving IP Addresses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066800" y="1447800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PCs were unable to receive IP addresses from the DHCP server due to DHCP broadcasts not crossing VLAN boundaries.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1600200" y="1943100"/>
            <a:ext cx="998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 ip helper-address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1600200" y="2247900"/>
            <a:ext cx="998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Configured the </a:t>
            </a:r>
            <a:r>
              <a:rPr lang="en-US" sz="1200" dirty="0">
                <a:solidFill>
                  <a:srgbClr val="C0C0C0"/>
                </a:solidFill>
                <a:highlight>
                  <a:srgbClr val="374151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helper-address</a:t>
            </a: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command on router sub-interfaces to relay DHCP requests from each VLAN to the centralized DHCP server.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66800" y="33147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Unrestricted Inter-VLAN Routing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1066800" y="3657600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default, inter-VLAN routing allowed all departments to communicate without restrictions, creating a security risk.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1600200" y="4152900"/>
            <a:ext cx="998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Solution: Extended ACLs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1600200" y="4457700"/>
            <a:ext cx="998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Extended Access Control Lists on departmental sub-interfaces to control and restrict communication between different departments, enforcing the principle of least privilege.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10664428" y="65532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12 of 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24100"/>
            <a:ext cx="5410200" cy="102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4765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8" y="257175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324100"/>
            <a:ext cx="54102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4765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950" y="25717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619500"/>
            <a:ext cx="54102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7719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350" y="38671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619500"/>
            <a:ext cx="54102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7719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7950" y="38671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105400"/>
            <a:ext cx="10972800" cy="1181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54355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28600" y="114300"/>
            <a:ext cx="11734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Summary and Achievements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609600" y="952500"/>
            <a:ext cx="10972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project successfully designed and implemented a secure and scalable multi-site company network utilizing Cisco Packet Tracer. By integrating key networking features, the network achieved its core objectives of secure departmental segmentation, efficient inter-branch communication, and robust external connectivity.</a:t>
            </a:r>
            <a:endParaRPr lang="en-US" sz="1350" dirty="0"/>
          </a:p>
        </p:txBody>
      </p:sp>
      <p:sp>
        <p:nvSpPr>
          <p:cNvPr id="21" name="Text 2"/>
          <p:cNvSpPr/>
          <p:nvPr/>
        </p:nvSpPr>
        <p:spPr>
          <a:xfrm>
            <a:off x="609600" y="19050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1371600" y="24765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Network Integration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1371600" y="27432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Successfully integrated VLANs, STP, NAT, ACLs, DHCP, and DNS services to create a cohesive network infrastructure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934200" y="24765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 Framework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6934200" y="27432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Implemented layered security measures including ACLs, NAT, and Port Security to protect network resources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1371600" y="37719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Inter-Branch Communication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1371600" y="40386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Established secure connections between Branch 1 and Branch 2 while maintaining departmental isolation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934200" y="3771900"/>
            <a:ext cx="5394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Services Implementation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6934200" y="4038600"/>
            <a:ext cx="4495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Deployed DHCP and DNS services for efficient IP address allocation and name resolution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181100" y="5295900"/>
            <a:ext cx="10210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Outcome:</a:t>
            </a:r>
            <a:r>
              <a:rPr lang="en-US" sz="1350" dirty="0">
                <a:solidFill>
                  <a:srgbClr val="C0C0C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practical application of these concepts demonstrated a comprehensive understanding of modern network infrastructure design and implementation, providing a solid foundation for real-world networking challenges.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609600" y="6553200"/>
            <a:ext cx="28907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Multi-Site Company Network Design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10664428" y="65532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13 of 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1386</Words>
  <Application>Microsoft Office PowerPoint</Application>
  <PresentationFormat>Widescreen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عمر رفاعى رفاعى اسماعيل</cp:lastModifiedBy>
  <cp:revision>7</cp:revision>
  <dcterms:created xsi:type="dcterms:W3CDTF">2025-12-08T19:40:48Z</dcterms:created>
  <dcterms:modified xsi:type="dcterms:W3CDTF">2025-12-08T19:53:42Z</dcterms:modified>
</cp:coreProperties>
</file>